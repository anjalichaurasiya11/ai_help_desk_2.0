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Today, I am presenting my Summer Internship Project completed at the Indian Air Force UDAAN Centre. The project is an AI-powered Intelligent Service Desk, built entirely from scratch for an air-gapped enterprise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high-level details of my internship. I spent 8 weeks at the UDAAN centre. My primary responsibility was architecting and developing an AI-driven Help Desk solution from the ground up, tailored strictly for a secure, completely offline network.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that in highly secure military environments, we cannot simply use OpenAI or Azure. Everything must run locally. Additionally, users often explain their problem in plain language and don't know the exact IT application at fault. We needed an AI system to bridge this gap without external internet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were clear: Build a classification engine, route tickets semantically, enable a voice-first interface, and most importantly, build a feedback loop so the system gets smarter over time as operators confirm the AI's suggestions.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internship followed a strict agile engineering workflow. The first phase focused on system architecture and the text-based classification engine. Once the classification logic was proven correct, I moved into Phase 2 and 3, which added asynchronous and real-time voice layers using WebRTC.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relies entirely on a modern, decoupled stack. A React frontend communicates with a FastAPI Python backend. The backend orchestrates interactions with our local AI models for embeddings and voice processing, and interfaces with PostgreSQL enriched with pgvector for storing high-dimensional embeddings.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complaint arrives, it is immediately embedded into a high-dimensional vector. We perform a semantic search against known application registries and historical confirmed tickets in pgvector. We then intelligently expand dependencies, such as checking if a login failure implies an SSO issue, before presenting it to an operator for final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real-time voice, the pipeline starts with WebRTC sending audio to the server. Silero VAD ensures we only process actual speech. Whisper performs speech-to-text, our classification engine processes the text, and Piper TTS generates the audio response. The entire pipeline operates within acceptable latency limits strictly on local hardware.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successfully integrated 7 core enterprise applications with over 130 embedded knowledge base entries. It natively supports code-switched Hindi and English, offering 3 distinct interaction modes, all while remaining 100% offline and compliant with strict security protocols.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challenge was the air-gapped environment. Every dependency and model had to be manually brought in. Handling Hinglish required rigorous testing to find an embedding model that maps concepts regardless of language. Finally, optimizing voice latency required introducing Voice Activity Detection to process smaller audio chunks.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this internship, I learned how to architect production systems under extreme constraints. I gained hands-on experience with Vector Databases, real-time WebRTC, and perhaps most importantly, I learned how to turn a theoretical AI concept into a robust, deployable engineering product.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the system is primed for direct PBX telephony integration. We can also integrate LDAP for automatic user identification. As the continuous learning loop accumulates more confirmed tickets, we plan to implement periodic fine-tuning to further enhance zero-shot classification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attention. I would be happy to take any questions regarding the architecture or implementation of the UDAAN AI Help Desk.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0152" cy="1828800"/>
          </a:xfrm>
          <a:prstGeom prst="rect">
            <a:avLst/>
          </a:prstGeom>
          <a:noFill/>
        </p:spPr>
        <p:txBody>
          <a:bodyPr wrap="none">
            <a:spAutoFit/>
          </a:bodyPr>
          <a:lstStyle/>
          <a:p>
            <a:pPr algn="ctr">
              <a:defRPr b="1" sz="4400">
                <a:solidFill>
                  <a:srgbClr val="FFFFFF"/>
                </a:solidFill>
              </a:defRPr>
            </a:pPr>
            <a:r>
              <a:t>UDAAN</a:t>
            </a:r>
            <a:br/>
            <a:r>
              <a:t>AI-Powered Intelligent Service Desk</a:t>
            </a:r>
          </a:p>
        </p:txBody>
      </p:sp>
      <p:sp>
        <p:nvSpPr>
          <p:cNvPr id="4" name="TextBox 3"/>
          <p:cNvSpPr txBox="1"/>
          <p:nvPr/>
        </p:nvSpPr>
        <p:spPr>
          <a:xfrm>
            <a:off x="914400" y="4114800"/>
            <a:ext cx="10360152" cy="914400"/>
          </a:xfrm>
          <a:prstGeom prst="rect">
            <a:avLst/>
          </a:prstGeom>
          <a:noFill/>
        </p:spPr>
        <p:txBody>
          <a:bodyPr wrap="none">
            <a:spAutoFit/>
          </a:bodyPr>
          <a:lstStyle/>
          <a:p>
            <a:pPr algn="ctr">
              <a:defRPr sz="2400">
                <a:solidFill>
                  <a:srgbClr val="87CEEB"/>
                </a:solidFill>
              </a:defRPr>
            </a:pPr>
            <a:r>
              <a:t>For Air-Gapped Enterprise Networks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Summer Internship 2025-26</a:t>
            </a:r>
          </a:p>
        </p:txBody>
      </p:sp>
      <p:sp>
        <p:nvSpPr>
          <p:cNvPr id="4" name="TextBox 3"/>
          <p:cNvSpPr txBox="1"/>
          <p:nvPr/>
        </p:nvSpPr>
        <p:spPr>
          <a:xfrm>
            <a:off x="914400" y="1371600"/>
            <a:ext cx="10058400" cy="4572000"/>
          </a:xfrm>
          <a:prstGeom prst="rect">
            <a:avLst/>
          </a:prstGeom>
          <a:noFill/>
        </p:spPr>
        <p:txBody>
          <a:bodyPr wrap="square">
            <a:spAutoFit/>
          </a:bodyPr>
          <a:lstStyle/>
          <a:p>
            <a:pPr>
              <a:spcBef>
                <a:spcPts val="1400"/>
              </a:spcBef>
              <a:defRPr sz="2400">
                <a:solidFill>
                  <a:srgbClr val="1E1E1E"/>
                </a:solidFill>
              </a:defRPr>
            </a:pPr>
            <a:r>
              <a:t>Organisation:	Indian Air Force UDAAN Centre</a:t>
            </a:r>
          </a:p>
          <a:p>
            <a:pPr>
              <a:spcBef>
                <a:spcPts val="1400"/>
              </a:spcBef>
              <a:defRPr sz="2400">
                <a:solidFill>
                  <a:srgbClr val="1E1E1E"/>
                </a:solidFill>
              </a:defRPr>
            </a:pPr>
            <a:r>
              <a:t>Project Scope:	Design &amp; Development of AI IT Service Desk</a:t>
            </a:r>
          </a:p>
          <a:p>
            <a:pPr>
              <a:spcBef>
                <a:spcPts val="1400"/>
              </a:spcBef>
              <a:defRPr sz="2400">
                <a:solidFill>
                  <a:srgbClr val="1E1E1E"/>
                </a:solidFill>
              </a:defRPr>
            </a:pPr>
            <a:r>
              <a:t>Environment:	100% Offline (Air-Gapped)</a:t>
            </a:r>
          </a:p>
          <a:p>
            <a:pPr>
              <a:spcBef>
                <a:spcPts val="1400"/>
              </a:spcBef>
              <a:defRPr sz="2400">
                <a:solidFill>
                  <a:srgbClr val="1E1E1E"/>
                </a:solidFill>
              </a:defRPr>
            </a:pPr>
            <a:r>
              <a:t>Duration:	8 Weeks (Week 1 to Week 8)</a:t>
            </a:r>
          </a:p>
          <a:p>
            <a:pPr>
              <a:spcBef>
                <a:spcPts val="1400"/>
              </a:spcBef>
              <a:defRPr sz="2400">
                <a:solidFill>
                  <a:srgbClr val="1E1E1E"/>
                </a:solidFill>
              </a:defRPr>
            </a:pPr>
            <a:r>
              <a:t>Core Technologies:	Python, React, FastAPI, Local LLMs, pgvector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Problem Statement: Why an Offline AI Help Desk?</a:t>
            </a:r>
          </a:p>
        </p:txBody>
      </p:sp>
      <p:sp>
        <p:nvSpPr>
          <p:cNvPr id="4" name="TextBox 3"/>
          <p:cNvSpPr txBox="1"/>
          <p:nvPr/>
        </p:nvSpPr>
        <p:spPr>
          <a:xfrm>
            <a:off x="914400" y="1371600"/>
            <a:ext cx="10058400" cy="4572000"/>
          </a:xfrm>
          <a:prstGeom prst="rect">
            <a:avLst/>
          </a:prstGeom>
          <a:noFill/>
        </p:spPr>
        <p:txBody>
          <a:bodyPr wrap="none">
            <a:spAutoFit/>
          </a:bodyPr>
          <a:lstStyle/>
          <a:p>
            <a:pPr>
              <a:defRPr b="1" sz="2400"/>
            </a:pPr>
            <a:r>
              <a:t>The Challenge:</a:t>
            </a:r>
          </a:p>
          <a:p>
            <a:pPr>
              <a:spcBef>
                <a:spcPts val="1000"/>
              </a:spcBef>
              <a:defRPr sz="2000"/>
            </a:pPr>
            <a:r>
              <a:t>• Highly secure networks (AFNET) restrict internet access, ruling out cloud AI APIs.</a:t>
            </a:r>
          </a:p>
          <a:p>
            <a:pPr>
              <a:spcBef>
                <a:spcPts val="1000"/>
              </a:spcBef>
              <a:defRPr sz="2000"/>
            </a:pPr>
            <a:r>
              <a:t>• Users struggle to identify which IT application is responsible for their issue.</a:t>
            </a:r>
          </a:p>
          <a:p>
            <a:pPr>
              <a:spcBef>
                <a:spcPts val="1000"/>
              </a:spcBef>
              <a:defRPr sz="2000"/>
            </a:pPr>
            <a:r>
              <a:t>• Manual routing of complaints causes high resolution latency and operator fatigue.</a:t>
            </a:r>
          </a:p>
          <a:p>
            <a:pPr>
              <a:spcBef>
                <a:spcPts val="1000"/>
              </a:spcBef>
              <a:defRPr sz="2000"/>
            </a:pPr>
            <a:r>
              <a:t>• Need for semantic understanding of complaints, handling both Hindi and English.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Project Objectives</a:t>
            </a:r>
          </a:p>
        </p:txBody>
      </p:sp>
      <p:sp>
        <p:nvSpPr>
          <p:cNvPr id="4" name="Rounded Rectangle 3"/>
          <p:cNvSpPr/>
          <p:nvPr/>
        </p:nvSpPr>
        <p:spPr>
          <a:xfrm>
            <a:off x="914400" y="1645920"/>
            <a:ext cx="5029200" cy="1828800"/>
          </a:xfrm>
          <a:prstGeom prst="roundRect">
            <a:avLst/>
          </a:prstGeom>
          <a:solidFill>
            <a:srgbClr val="F0F0F0"/>
          </a:solidFill>
          <a:ln>
            <a:solidFill>
              <a:srgbClr val="5D8A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2000">
                <a:solidFill>
                  <a:srgbClr val="0A1931"/>
                </a:solidFill>
              </a:defRPr>
            </a:pPr>
            <a:r>
              <a:t>Intelligent Classification</a:t>
            </a:r>
          </a:p>
          <a:p>
            <a:pPr>
              <a:defRPr sz="1600">
                <a:solidFill>
                  <a:srgbClr val="1E1E1E"/>
                </a:solidFill>
              </a:defRPr>
            </a:pPr>
            <a:r>
              <a:t>Classify complaints, predict fault types, and identify applications automatically.</a:t>
            </a:r>
          </a:p>
        </p:txBody>
      </p:sp>
      <p:sp>
        <p:nvSpPr>
          <p:cNvPr id="5" name="Rounded Rectangle 4"/>
          <p:cNvSpPr/>
          <p:nvPr/>
        </p:nvSpPr>
        <p:spPr>
          <a:xfrm>
            <a:off x="6217920" y="1645920"/>
            <a:ext cx="5029200" cy="1828800"/>
          </a:xfrm>
          <a:prstGeom prst="roundRect">
            <a:avLst/>
          </a:prstGeom>
          <a:solidFill>
            <a:srgbClr val="F0F0F0"/>
          </a:solidFill>
          <a:ln>
            <a:solidFill>
              <a:srgbClr val="5D8A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2000">
                <a:solidFill>
                  <a:srgbClr val="0A1931"/>
                </a:solidFill>
              </a:defRPr>
            </a:pPr>
            <a:r>
              <a:t>Semantic Routing</a:t>
            </a:r>
          </a:p>
          <a:p>
            <a:pPr>
              <a:defRPr sz="1600">
                <a:solidFill>
                  <a:srgbClr val="1E1E1E"/>
                </a:solidFill>
              </a:defRPr>
            </a:pPr>
            <a:r>
              <a:t>Route tickets to specific teams using embedding-based search (pgvector).</a:t>
            </a:r>
          </a:p>
        </p:txBody>
      </p:sp>
      <p:sp>
        <p:nvSpPr>
          <p:cNvPr id="6" name="Rounded Rectangle 5"/>
          <p:cNvSpPr/>
          <p:nvPr/>
        </p:nvSpPr>
        <p:spPr>
          <a:xfrm>
            <a:off x="914400" y="3931920"/>
            <a:ext cx="5029200" cy="1828800"/>
          </a:xfrm>
          <a:prstGeom prst="roundRect">
            <a:avLst/>
          </a:prstGeom>
          <a:solidFill>
            <a:srgbClr val="F0F0F0"/>
          </a:solidFill>
          <a:ln>
            <a:solidFill>
              <a:srgbClr val="5D8A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2000">
                <a:solidFill>
                  <a:srgbClr val="0A1931"/>
                </a:solidFill>
              </a:defRPr>
            </a:pPr>
            <a:r>
              <a:t>Voice-Enabled Interface</a:t>
            </a:r>
          </a:p>
          <a:p>
            <a:pPr>
              <a:defRPr sz="1600">
                <a:solidFill>
                  <a:srgbClr val="1E1E1E"/>
                </a:solidFill>
              </a:defRPr>
            </a:pPr>
            <a:r>
              <a:t>Allow complaint registration via text or voice (Whisper STT).</a:t>
            </a:r>
          </a:p>
        </p:txBody>
      </p:sp>
      <p:sp>
        <p:nvSpPr>
          <p:cNvPr id="7" name="Rounded Rectangle 6"/>
          <p:cNvSpPr/>
          <p:nvPr/>
        </p:nvSpPr>
        <p:spPr>
          <a:xfrm>
            <a:off x="6217920" y="3931920"/>
            <a:ext cx="5029200" cy="1828800"/>
          </a:xfrm>
          <a:prstGeom prst="roundRect">
            <a:avLst/>
          </a:prstGeom>
          <a:solidFill>
            <a:srgbClr val="F0F0F0"/>
          </a:solidFill>
          <a:ln>
            <a:solidFill>
              <a:srgbClr val="5D8A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2000">
                <a:solidFill>
                  <a:srgbClr val="0A1931"/>
                </a:solidFill>
              </a:defRPr>
            </a:pPr>
            <a:r>
              <a:t>Continuous Learning Loop</a:t>
            </a:r>
          </a:p>
          <a:p>
            <a:pPr>
              <a:defRPr sz="1600">
                <a:solidFill>
                  <a:srgbClr val="1E1E1E"/>
                </a:solidFill>
              </a:defRPr>
            </a:pPr>
            <a:r>
              <a:t>Improve AI accuracy using operator-confirmed tickets as new training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8-Week Engineering Journey</a:t>
            </a:r>
          </a:p>
        </p:txBody>
      </p:sp>
      <p:cxnSp>
        <p:nvCxnSpPr>
          <p:cNvPr id="4" name="Connector 3"/>
          <p:cNvCxnSpPr/>
          <p:nvPr/>
        </p:nvCxnSpPr>
        <p:spPr>
          <a:xfrm>
            <a:off x="914400" y="3200400"/>
            <a:ext cx="10360152" cy="0"/>
          </a:xfrm>
          <a:prstGeom prst="line">
            <a:avLst/>
          </a:prstGeom>
          <a:ln>
            <a:solidFill>
              <a:srgbClr val="5D8AA8"/>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14400" y="3108960"/>
            <a:ext cx="182880" cy="182880"/>
          </a:xfrm>
          <a:prstGeom prst="ellipse">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88720" cy="914400"/>
          </a:xfrm>
          <a:prstGeom prst="rect">
            <a:avLst/>
          </a:prstGeom>
          <a:noFill/>
        </p:spPr>
        <p:txBody>
          <a:bodyPr wrap="square">
            <a:spAutoFit/>
          </a:bodyPr>
          <a:lstStyle/>
          <a:p>
            <a:pPr algn="ctr">
              <a:defRPr b="1" sz="1400">
                <a:solidFill>
                  <a:srgbClr val="0A1931"/>
                </a:solidFill>
              </a:defRPr>
            </a:pPr>
            <a:r>
              <a:t>Wk 1: Discovery</a:t>
            </a:r>
          </a:p>
          <a:p>
            <a:pPr algn="ctr">
              <a:defRPr sz="1100">
                <a:solidFill>
                  <a:srgbClr val="1E1E1E"/>
                </a:solidFill>
              </a:defRPr>
            </a:pPr>
            <a:r>
              <a:t>Workflow analysis &amp; requirement gathering</a:t>
            </a:r>
          </a:p>
        </p:txBody>
      </p:sp>
      <p:sp>
        <p:nvSpPr>
          <p:cNvPr id="7" name="Oval 6"/>
          <p:cNvSpPr/>
          <p:nvPr/>
        </p:nvSpPr>
        <p:spPr>
          <a:xfrm>
            <a:off x="2194560" y="3108960"/>
            <a:ext cx="182880" cy="182880"/>
          </a:xfrm>
          <a:prstGeom prst="ellipse">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3657600"/>
            <a:ext cx="1188720" cy="914400"/>
          </a:xfrm>
          <a:prstGeom prst="rect">
            <a:avLst/>
          </a:prstGeom>
          <a:noFill/>
        </p:spPr>
        <p:txBody>
          <a:bodyPr wrap="square">
            <a:spAutoFit/>
          </a:bodyPr>
          <a:lstStyle/>
          <a:p>
            <a:pPr algn="ctr">
              <a:defRPr b="1" sz="1400">
                <a:solidFill>
                  <a:srgbClr val="0A1931"/>
                </a:solidFill>
              </a:defRPr>
            </a:pPr>
            <a:r>
              <a:t>Wk 2: Foundation</a:t>
            </a:r>
          </a:p>
          <a:p>
            <a:pPr algn="ctr">
              <a:defRPr sz="1100">
                <a:solidFill>
                  <a:srgbClr val="1E1E1E"/>
                </a:solidFill>
              </a:defRPr>
            </a:pPr>
            <a:r>
              <a:t>Offline Docker &amp; DB environment setup</a:t>
            </a:r>
          </a:p>
        </p:txBody>
      </p:sp>
      <p:sp>
        <p:nvSpPr>
          <p:cNvPr id="9" name="Oval 8"/>
          <p:cNvSpPr/>
          <p:nvPr/>
        </p:nvSpPr>
        <p:spPr>
          <a:xfrm>
            <a:off x="3474720" y="3108960"/>
            <a:ext cx="182880" cy="182880"/>
          </a:xfrm>
          <a:prstGeom prst="ellipse">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2011680"/>
            <a:ext cx="1188720" cy="914400"/>
          </a:xfrm>
          <a:prstGeom prst="rect">
            <a:avLst/>
          </a:prstGeom>
          <a:noFill/>
        </p:spPr>
        <p:txBody>
          <a:bodyPr wrap="square">
            <a:spAutoFit/>
          </a:bodyPr>
          <a:lstStyle/>
          <a:p>
            <a:pPr algn="ctr">
              <a:defRPr b="1" sz="1400">
                <a:solidFill>
                  <a:srgbClr val="0A1931"/>
                </a:solidFill>
              </a:defRPr>
            </a:pPr>
            <a:r>
              <a:t>Wk 3: Architecture</a:t>
            </a:r>
          </a:p>
          <a:p>
            <a:pPr algn="ctr">
              <a:defRPr sz="1100">
                <a:solidFill>
                  <a:srgbClr val="1E1E1E"/>
                </a:solidFill>
              </a:defRPr>
            </a:pPr>
            <a:r>
              <a:t>Backend APIs, schema &amp; registry mapping</a:t>
            </a:r>
          </a:p>
        </p:txBody>
      </p:sp>
      <p:sp>
        <p:nvSpPr>
          <p:cNvPr id="11" name="Oval 10"/>
          <p:cNvSpPr/>
          <p:nvPr/>
        </p:nvSpPr>
        <p:spPr>
          <a:xfrm>
            <a:off x="4754879" y="3108960"/>
            <a:ext cx="182880" cy="182880"/>
          </a:xfrm>
          <a:prstGeom prst="ellipse">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79" y="3657600"/>
            <a:ext cx="1188720" cy="914400"/>
          </a:xfrm>
          <a:prstGeom prst="rect">
            <a:avLst/>
          </a:prstGeom>
          <a:noFill/>
        </p:spPr>
        <p:txBody>
          <a:bodyPr wrap="square">
            <a:spAutoFit/>
          </a:bodyPr>
          <a:lstStyle/>
          <a:p>
            <a:pPr algn="ctr">
              <a:defRPr b="1" sz="1400">
                <a:solidFill>
                  <a:srgbClr val="0A1931"/>
                </a:solidFill>
              </a:defRPr>
            </a:pPr>
            <a:r>
              <a:t>Wk 4: AI Engine</a:t>
            </a:r>
          </a:p>
          <a:p>
            <a:pPr algn="ctr">
              <a:defRPr sz="1100">
                <a:solidFill>
                  <a:srgbClr val="1E1E1E"/>
                </a:solidFill>
              </a:defRPr>
            </a:pPr>
            <a:r>
              <a:t>Semantic search &amp; fault classification</a:t>
            </a:r>
          </a:p>
        </p:txBody>
      </p:sp>
      <p:sp>
        <p:nvSpPr>
          <p:cNvPr id="13" name="Oval 12"/>
          <p:cNvSpPr/>
          <p:nvPr/>
        </p:nvSpPr>
        <p:spPr>
          <a:xfrm>
            <a:off x="6035040" y="3108960"/>
            <a:ext cx="182880" cy="182880"/>
          </a:xfrm>
          <a:prstGeom prst="ellipse">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2011680"/>
            <a:ext cx="1188720" cy="914400"/>
          </a:xfrm>
          <a:prstGeom prst="rect">
            <a:avLst/>
          </a:prstGeom>
          <a:noFill/>
        </p:spPr>
        <p:txBody>
          <a:bodyPr wrap="square">
            <a:spAutoFit/>
          </a:bodyPr>
          <a:lstStyle/>
          <a:p>
            <a:pPr algn="ctr">
              <a:defRPr b="1" sz="1400">
                <a:solidFill>
                  <a:srgbClr val="0A1931"/>
                </a:solidFill>
              </a:defRPr>
            </a:pPr>
            <a:r>
              <a:t>Wk 5: Lifecycle</a:t>
            </a:r>
          </a:p>
          <a:p>
            <a:pPr algn="ctr">
              <a:defRPr sz="1100">
                <a:solidFill>
                  <a:srgbClr val="1E1E1E"/>
                </a:solidFill>
              </a:defRPr>
            </a:pPr>
            <a:r>
              <a:t>Ticket routing &amp; continuous learning loop</a:t>
            </a:r>
          </a:p>
        </p:txBody>
      </p:sp>
      <p:sp>
        <p:nvSpPr>
          <p:cNvPr id="15" name="Oval 14"/>
          <p:cNvSpPr/>
          <p:nvPr/>
        </p:nvSpPr>
        <p:spPr>
          <a:xfrm>
            <a:off x="7315200" y="3108960"/>
            <a:ext cx="182880" cy="182880"/>
          </a:xfrm>
          <a:prstGeom prst="ellipse">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3657600"/>
            <a:ext cx="1188720" cy="914400"/>
          </a:xfrm>
          <a:prstGeom prst="rect">
            <a:avLst/>
          </a:prstGeom>
          <a:noFill/>
        </p:spPr>
        <p:txBody>
          <a:bodyPr wrap="square">
            <a:spAutoFit/>
          </a:bodyPr>
          <a:lstStyle/>
          <a:p>
            <a:pPr algn="ctr">
              <a:defRPr b="1" sz="1400">
                <a:solidFill>
                  <a:srgbClr val="0A1931"/>
                </a:solidFill>
              </a:defRPr>
            </a:pPr>
            <a:r>
              <a:t>Wk 6: Voice Intro</a:t>
            </a:r>
          </a:p>
          <a:p>
            <a:pPr algn="ctr">
              <a:defRPr sz="1100">
                <a:solidFill>
                  <a:srgbClr val="1E1E1E"/>
                </a:solidFill>
              </a:defRPr>
            </a:pPr>
            <a:r>
              <a:t>Whisper STT &amp; Piper TTS integration</a:t>
            </a:r>
          </a:p>
        </p:txBody>
      </p:sp>
      <p:sp>
        <p:nvSpPr>
          <p:cNvPr id="17" name="Oval 16"/>
          <p:cNvSpPr/>
          <p:nvPr/>
        </p:nvSpPr>
        <p:spPr>
          <a:xfrm>
            <a:off x="8595359" y="3108960"/>
            <a:ext cx="182880" cy="182880"/>
          </a:xfrm>
          <a:prstGeom prst="ellipse">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2011680"/>
            <a:ext cx="1188720" cy="914400"/>
          </a:xfrm>
          <a:prstGeom prst="rect">
            <a:avLst/>
          </a:prstGeom>
          <a:noFill/>
        </p:spPr>
        <p:txBody>
          <a:bodyPr wrap="square">
            <a:spAutoFit/>
          </a:bodyPr>
          <a:lstStyle/>
          <a:p>
            <a:pPr algn="ctr">
              <a:defRPr b="1" sz="1400">
                <a:solidFill>
                  <a:srgbClr val="0A1931"/>
                </a:solidFill>
              </a:defRPr>
            </a:pPr>
            <a:r>
              <a:t>Wk 7: Real-Time</a:t>
            </a:r>
          </a:p>
          <a:p>
            <a:pPr algn="ctr">
              <a:defRPr sz="1100">
                <a:solidFill>
                  <a:srgbClr val="1E1E1E"/>
                </a:solidFill>
              </a:defRPr>
            </a:pPr>
            <a:r>
              <a:t>LiveKit, WebRTC &amp; VAD for live voice</a:t>
            </a:r>
          </a:p>
        </p:txBody>
      </p:sp>
      <p:sp>
        <p:nvSpPr>
          <p:cNvPr id="19" name="Oval 18"/>
          <p:cNvSpPr/>
          <p:nvPr/>
        </p:nvSpPr>
        <p:spPr>
          <a:xfrm>
            <a:off x="9875519" y="3108960"/>
            <a:ext cx="182880" cy="182880"/>
          </a:xfrm>
          <a:prstGeom prst="ellipse">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19" y="3657600"/>
            <a:ext cx="1188720" cy="914400"/>
          </a:xfrm>
          <a:prstGeom prst="rect">
            <a:avLst/>
          </a:prstGeom>
          <a:noFill/>
        </p:spPr>
        <p:txBody>
          <a:bodyPr wrap="square">
            <a:spAutoFit/>
          </a:bodyPr>
          <a:lstStyle/>
          <a:p>
            <a:pPr algn="ctr">
              <a:defRPr b="1" sz="1400">
                <a:solidFill>
                  <a:srgbClr val="0A1931"/>
                </a:solidFill>
              </a:defRPr>
            </a:pPr>
            <a:r>
              <a:t>Wk 8: Delivery</a:t>
            </a:r>
          </a:p>
          <a:p>
            <a:pPr algn="ctr">
              <a:defRPr sz="1100">
                <a:solidFill>
                  <a:srgbClr val="1E1E1E"/>
                </a:solidFill>
              </a:defRPr>
            </a:pPr>
            <a:r>
              <a:t>System integration, testing &amp; 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System Architecture</a:t>
            </a:r>
          </a:p>
        </p:txBody>
      </p:sp>
      <p:sp>
        <p:nvSpPr>
          <p:cNvPr id="4" name="Rectangle 3"/>
          <p:cNvSpPr/>
          <p:nvPr/>
        </p:nvSpPr>
        <p:spPr>
          <a:xfrm>
            <a:off x="914400" y="2743200"/>
            <a:ext cx="18288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React UI</a:t>
            </a:r>
          </a:p>
          <a:p>
            <a:r>
              <a:t>(Dashboard &amp; WebRTC)</a:t>
            </a:r>
          </a:p>
        </p:txBody>
      </p:sp>
      <p:sp>
        <p:nvSpPr>
          <p:cNvPr id="5" name="Rectangle 4"/>
          <p:cNvSpPr/>
          <p:nvPr/>
        </p:nvSpPr>
        <p:spPr>
          <a:xfrm>
            <a:off x="4114800" y="1828800"/>
            <a:ext cx="2743200" cy="3200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FastAPI Backend</a:t>
            </a:r>
          </a:p>
          <a:p/>
          <a:p>
            <a:r>
              <a:t>- Ticket Lifecycle</a:t>
            </a:r>
          </a:p>
          <a:p>
            <a:r>
              <a:t>- Routing Engine</a:t>
            </a:r>
          </a:p>
          <a:p>
            <a:r>
              <a:t>- Learning Loop</a:t>
            </a:r>
          </a:p>
        </p:txBody>
      </p:sp>
      <p:sp>
        <p:nvSpPr>
          <p:cNvPr id="6" name="Rectangle 5"/>
          <p:cNvSpPr/>
          <p:nvPr/>
        </p:nvSpPr>
        <p:spPr>
          <a:xfrm>
            <a:off x="8229600" y="1371600"/>
            <a:ext cx="2286000" cy="1828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Local AI Models</a:t>
            </a:r>
          </a:p>
          <a:p>
            <a:r>
              <a:t>- Whisper STT</a:t>
            </a:r>
          </a:p>
          <a:p>
            <a:r>
              <a:t>- Piper TTS</a:t>
            </a:r>
          </a:p>
          <a:p>
            <a:r>
              <a:t>- Embedding Model</a:t>
            </a:r>
          </a:p>
        </p:txBody>
      </p:sp>
      <p:sp>
        <p:nvSpPr>
          <p:cNvPr id="7" name="Rectangle 6"/>
          <p:cNvSpPr/>
          <p:nvPr/>
        </p:nvSpPr>
        <p:spPr>
          <a:xfrm>
            <a:off x="8229600" y="4114800"/>
            <a:ext cx="2286000" cy="1371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PostgreSQL + pgvector</a:t>
            </a:r>
          </a:p>
          <a:p>
            <a:r>
              <a:t>(Registry &amp; Tickets)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AI Complaint Classification Workflow</a:t>
            </a:r>
          </a:p>
        </p:txBody>
      </p:sp>
      <p:sp>
        <p:nvSpPr>
          <p:cNvPr id="4" name="Chevron 3"/>
          <p:cNvSpPr/>
          <p:nvPr/>
        </p:nvSpPr>
        <p:spPr>
          <a:xfrm>
            <a:off x="457200" y="2743200"/>
            <a:ext cx="2011680" cy="1371600"/>
          </a:xfrm>
          <a:prstGeom prst="chevr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User Input</a:t>
            </a:r>
          </a:p>
          <a:p>
            <a:pPr algn="ctr">
              <a:defRPr sz="1400"/>
            </a:pPr>
            <a:r>
              <a:t>(Text/Speech)</a:t>
            </a:r>
          </a:p>
        </p:txBody>
      </p:sp>
      <p:sp>
        <p:nvSpPr>
          <p:cNvPr id="5" name="Chevron 4"/>
          <p:cNvSpPr/>
          <p:nvPr/>
        </p:nvSpPr>
        <p:spPr>
          <a:xfrm>
            <a:off x="2743200" y="2743200"/>
            <a:ext cx="2011680" cy="1371600"/>
          </a:xfrm>
          <a:prstGeom prst="chevr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Vector Embedding</a:t>
            </a:r>
          </a:p>
          <a:p>
            <a:pPr algn="ctr">
              <a:defRPr sz="1400"/>
            </a:pPr>
            <a:r>
              <a:t>Generation</a:t>
            </a:r>
          </a:p>
        </p:txBody>
      </p:sp>
      <p:sp>
        <p:nvSpPr>
          <p:cNvPr id="6" name="Chevron 5"/>
          <p:cNvSpPr/>
          <p:nvPr/>
        </p:nvSpPr>
        <p:spPr>
          <a:xfrm>
            <a:off x="5029200" y="2743200"/>
            <a:ext cx="2011680" cy="1371600"/>
          </a:xfrm>
          <a:prstGeom prst="chevr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pgvector</a:t>
            </a:r>
          </a:p>
          <a:p>
            <a:pPr algn="ctr">
              <a:defRPr sz="1400"/>
            </a:pPr>
            <a:r>
              <a:t>Semantic Match</a:t>
            </a:r>
          </a:p>
        </p:txBody>
      </p:sp>
      <p:sp>
        <p:nvSpPr>
          <p:cNvPr id="7" name="Chevron 6"/>
          <p:cNvSpPr/>
          <p:nvPr/>
        </p:nvSpPr>
        <p:spPr>
          <a:xfrm>
            <a:off x="7315200" y="2743200"/>
            <a:ext cx="2011680" cy="1371600"/>
          </a:xfrm>
          <a:prstGeom prst="chevr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Dependency</a:t>
            </a:r>
          </a:p>
          <a:p>
            <a:pPr algn="ctr">
              <a:defRPr sz="1400"/>
            </a:pPr>
            <a:r>
              <a:t>Expansion</a:t>
            </a:r>
          </a:p>
        </p:txBody>
      </p:sp>
      <p:sp>
        <p:nvSpPr>
          <p:cNvPr id="8" name="Chevron 7"/>
          <p:cNvSpPr/>
          <p:nvPr/>
        </p:nvSpPr>
        <p:spPr>
          <a:xfrm>
            <a:off x="9601200" y="2743200"/>
            <a:ext cx="2011680" cy="1371600"/>
          </a:xfrm>
          <a:prstGeom prst="chevr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Operator</a:t>
            </a:r>
          </a:p>
          <a:p>
            <a:pPr algn="ctr">
              <a:defRPr sz="1400"/>
            </a:pPr>
            <a:r>
              <a:t>Confirmation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Voice Processing Pipeline</a:t>
            </a:r>
          </a:p>
        </p:txBody>
      </p:sp>
      <p:sp>
        <p:nvSpPr>
          <p:cNvPr id="4" name="Rounded Rectangle 3"/>
          <p:cNvSpPr/>
          <p:nvPr/>
        </p:nvSpPr>
        <p:spPr>
          <a:xfrm>
            <a:off x="1828800" y="1371600"/>
            <a:ext cx="7315200" cy="731520"/>
          </a:xfrm>
          <a:prstGeom prst="round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A1931"/>
                </a:solidFill>
              </a:defRPr>
            </a:pPr>
            <a:r>
              <a:t>1. Microphone / WebRTC </a:t>
            </a:r>
          </a:p>
          <a:p>
            <a:pPr>
              <a:defRPr sz="1400">
                <a:solidFill>
                  <a:srgbClr val="1E1E1E"/>
                </a:solidFill>
              </a:defRPr>
            </a:pPr>
            <a:r>
              <a:t>    Live Audio Stream</a:t>
            </a:r>
          </a:p>
        </p:txBody>
      </p:sp>
      <p:sp>
        <p:nvSpPr>
          <p:cNvPr id="5" name="Rounded Rectangle 4"/>
          <p:cNvSpPr/>
          <p:nvPr/>
        </p:nvSpPr>
        <p:spPr>
          <a:xfrm>
            <a:off x="1828800" y="2377440"/>
            <a:ext cx="7315200" cy="731520"/>
          </a:xfrm>
          <a:prstGeom prst="round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A1931"/>
                </a:solidFill>
              </a:defRPr>
            </a:pPr>
            <a:r>
              <a:t>2. Silero VAD </a:t>
            </a:r>
          </a:p>
          <a:p>
            <a:pPr>
              <a:defRPr sz="1400">
                <a:solidFill>
                  <a:srgbClr val="1E1E1E"/>
                </a:solidFill>
              </a:defRPr>
            </a:pPr>
            <a:r>
              <a:t>    Voice Activity Detection</a:t>
            </a:r>
          </a:p>
        </p:txBody>
      </p:sp>
      <p:sp>
        <p:nvSpPr>
          <p:cNvPr id="6" name="Rounded Rectangle 5"/>
          <p:cNvSpPr/>
          <p:nvPr/>
        </p:nvSpPr>
        <p:spPr>
          <a:xfrm>
            <a:off x="1828800" y="3383280"/>
            <a:ext cx="7315200" cy="731520"/>
          </a:xfrm>
          <a:prstGeom prst="round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A1931"/>
                </a:solidFill>
              </a:defRPr>
            </a:pPr>
            <a:r>
              <a:t>3. Whisper STT </a:t>
            </a:r>
          </a:p>
          <a:p>
            <a:pPr>
              <a:defRPr sz="1400">
                <a:solidFill>
                  <a:srgbClr val="1E1E1E"/>
                </a:solidFill>
              </a:defRPr>
            </a:pPr>
            <a:r>
              <a:t>    Speech-to-Text Conversion</a:t>
            </a:r>
          </a:p>
        </p:txBody>
      </p:sp>
      <p:sp>
        <p:nvSpPr>
          <p:cNvPr id="7" name="Rounded Rectangle 6"/>
          <p:cNvSpPr/>
          <p:nvPr/>
        </p:nvSpPr>
        <p:spPr>
          <a:xfrm>
            <a:off x="1828800" y="4389120"/>
            <a:ext cx="7315200" cy="731520"/>
          </a:xfrm>
          <a:prstGeom prst="round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A1931"/>
                </a:solidFill>
              </a:defRPr>
            </a:pPr>
            <a:r>
              <a:t>4. AI Processing </a:t>
            </a:r>
          </a:p>
          <a:p>
            <a:pPr>
              <a:defRPr sz="1400">
                <a:solidFill>
                  <a:srgbClr val="1E1E1E"/>
                </a:solidFill>
              </a:defRPr>
            </a:pPr>
            <a:r>
              <a:t>    Classification Engine</a:t>
            </a:r>
          </a:p>
        </p:txBody>
      </p:sp>
      <p:sp>
        <p:nvSpPr>
          <p:cNvPr id="8" name="Rounded Rectangle 7"/>
          <p:cNvSpPr/>
          <p:nvPr/>
        </p:nvSpPr>
        <p:spPr>
          <a:xfrm>
            <a:off x="1828800" y="5394960"/>
            <a:ext cx="7315200" cy="731520"/>
          </a:xfrm>
          <a:prstGeom prst="round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1800">
                <a:solidFill>
                  <a:srgbClr val="0A1931"/>
                </a:solidFill>
              </a:defRPr>
            </a:pPr>
            <a:r>
              <a:t>5. Piper TTS </a:t>
            </a:r>
          </a:p>
          <a:p>
            <a:pPr>
              <a:defRPr sz="1400">
                <a:solidFill>
                  <a:srgbClr val="1E1E1E"/>
                </a:solidFill>
              </a:defRPr>
            </a:pPr>
            <a:r>
              <a:t>    Voice Confirmation to User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Project Highlights &amp; Metrics</a:t>
            </a:r>
          </a:p>
        </p:txBody>
      </p:sp>
      <p:sp>
        <p:nvSpPr>
          <p:cNvPr id="4" name="Rectangle 3"/>
          <p:cNvSpPr/>
          <p:nvPr/>
        </p:nvSpPr>
        <p:spPr>
          <a:xfrm>
            <a:off x="457200" y="2743200"/>
            <a:ext cx="2103120" cy="2103120"/>
          </a:xfrm>
          <a:prstGeom prst="rect">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4000">
                <a:solidFill>
                  <a:srgbClr val="87CEEB"/>
                </a:solidFill>
              </a:defRPr>
            </a:pPr>
            <a:r>
              <a:t>7</a:t>
            </a:r>
          </a:p>
          <a:p>
            <a:pPr algn="ctr">
              <a:spcBef>
                <a:spcPts val="1000"/>
              </a:spcBef>
              <a:defRPr sz="1600">
                <a:solidFill>
                  <a:srgbClr val="FFFFFF"/>
                </a:solidFill>
              </a:defRPr>
            </a:pPr>
            <a:r>
              <a:t>Enterprise Apps</a:t>
            </a:r>
            <a:br/>
            <a:r>
              <a:t>Integrated</a:t>
            </a:r>
          </a:p>
        </p:txBody>
      </p:sp>
      <p:sp>
        <p:nvSpPr>
          <p:cNvPr id="5" name="Rectangle 4"/>
          <p:cNvSpPr/>
          <p:nvPr/>
        </p:nvSpPr>
        <p:spPr>
          <a:xfrm>
            <a:off x="2743200" y="2743200"/>
            <a:ext cx="2103120" cy="2103120"/>
          </a:xfrm>
          <a:prstGeom prst="rect">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4000">
                <a:solidFill>
                  <a:srgbClr val="87CEEB"/>
                </a:solidFill>
              </a:defRPr>
            </a:pPr>
            <a:r>
              <a:t>2</a:t>
            </a:r>
          </a:p>
          <a:p>
            <a:pPr algn="ctr">
              <a:spcBef>
                <a:spcPts val="1000"/>
              </a:spcBef>
              <a:defRPr sz="1600">
                <a:solidFill>
                  <a:srgbClr val="FFFFFF"/>
                </a:solidFill>
              </a:defRPr>
            </a:pPr>
            <a:r>
              <a:t>Languages</a:t>
            </a:r>
            <a:br/>
            <a:r>
              <a:t>English &amp; Hindi</a:t>
            </a:r>
          </a:p>
        </p:txBody>
      </p:sp>
      <p:sp>
        <p:nvSpPr>
          <p:cNvPr id="6" name="Rectangle 5"/>
          <p:cNvSpPr/>
          <p:nvPr/>
        </p:nvSpPr>
        <p:spPr>
          <a:xfrm>
            <a:off x="5029200" y="2743200"/>
            <a:ext cx="2103120" cy="2103120"/>
          </a:xfrm>
          <a:prstGeom prst="rect">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4000">
                <a:solidFill>
                  <a:srgbClr val="87CEEB"/>
                </a:solidFill>
              </a:defRPr>
            </a:pPr>
            <a:r>
              <a:t>130+</a:t>
            </a:r>
          </a:p>
          <a:p>
            <a:pPr algn="ctr">
              <a:spcBef>
                <a:spcPts val="1000"/>
              </a:spcBef>
              <a:defRPr sz="1600">
                <a:solidFill>
                  <a:srgbClr val="FFFFFF"/>
                </a:solidFill>
              </a:defRPr>
            </a:pPr>
            <a:r>
              <a:t>Knowledge Base</a:t>
            </a:r>
            <a:br/>
            <a:r>
              <a:t>Entries Embedded</a:t>
            </a:r>
          </a:p>
        </p:txBody>
      </p:sp>
      <p:sp>
        <p:nvSpPr>
          <p:cNvPr id="7" name="Rectangle 6"/>
          <p:cNvSpPr/>
          <p:nvPr/>
        </p:nvSpPr>
        <p:spPr>
          <a:xfrm>
            <a:off x="7315200" y="2743200"/>
            <a:ext cx="2103120" cy="2103120"/>
          </a:xfrm>
          <a:prstGeom prst="rect">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4000">
                <a:solidFill>
                  <a:srgbClr val="87CEEB"/>
                </a:solidFill>
              </a:defRPr>
            </a:pPr>
            <a:r>
              <a:t>3</a:t>
            </a:r>
          </a:p>
          <a:p>
            <a:pPr algn="ctr">
              <a:spcBef>
                <a:spcPts val="1000"/>
              </a:spcBef>
              <a:defRPr sz="1600">
                <a:solidFill>
                  <a:srgbClr val="FFFFFF"/>
                </a:solidFill>
              </a:defRPr>
            </a:pPr>
            <a:r>
              <a:t>Interaction Modes</a:t>
            </a:r>
            <a:br/>
            <a:r>
              <a:t>Text, Audio, Live Voice</a:t>
            </a:r>
          </a:p>
        </p:txBody>
      </p:sp>
      <p:sp>
        <p:nvSpPr>
          <p:cNvPr id="8" name="Rectangle 7"/>
          <p:cNvSpPr/>
          <p:nvPr/>
        </p:nvSpPr>
        <p:spPr>
          <a:xfrm>
            <a:off x="9601200" y="2743200"/>
            <a:ext cx="2103120" cy="2103120"/>
          </a:xfrm>
          <a:prstGeom prst="rect">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4000">
                <a:solidFill>
                  <a:srgbClr val="87CEEB"/>
                </a:solidFill>
              </a:defRPr>
            </a:pPr>
            <a:r>
              <a:t>100%</a:t>
            </a:r>
          </a:p>
          <a:p>
            <a:pPr algn="ctr">
              <a:spcBef>
                <a:spcPts val="1000"/>
              </a:spcBef>
              <a:defRPr sz="1600">
                <a:solidFill>
                  <a:srgbClr val="FFFFFF"/>
                </a:solidFill>
              </a:defRPr>
            </a:pPr>
            <a:r>
              <a:t>Offline System</a:t>
            </a:r>
            <a:br/>
            <a:r>
              <a:t>Air-Gapped Deployment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Major Challenges &amp; Solutions</a:t>
            </a:r>
          </a:p>
        </p:txBody>
      </p:sp>
      <p:sp>
        <p:nvSpPr>
          <p:cNvPr id="4" name="TextBox 3"/>
          <p:cNvSpPr txBox="1"/>
          <p:nvPr/>
        </p:nvSpPr>
        <p:spPr>
          <a:xfrm>
            <a:off x="914400" y="1371600"/>
            <a:ext cx="10058400" cy="4572000"/>
          </a:xfrm>
          <a:prstGeom prst="rect">
            <a:avLst/>
          </a:prstGeom>
          <a:noFill/>
        </p:spPr>
        <p:txBody>
          <a:bodyPr wrap="none">
            <a:spAutoFit/>
          </a:bodyPr>
          <a:lstStyle/>
          <a:p/>
          <a:p>
            <a:pPr>
              <a:spcBef>
                <a:spcPts val="1500"/>
              </a:spcBef>
              <a:defRPr b="1" sz="2000">
                <a:solidFill>
                  <a:srgbClr val="0A1931"/>
                </a:solidFill>
              </a:defRPr>
            </a:pPr>
            <a:r>
              <a:t>Challenge: Air-Gapped Dependencies</a:t>
            </a:r>
          </a:p>
          <a:p>
            <a:pPr>
              <a:defRPr sz="1800"/>
            </a:pPr>
            <a:r>
              <a:t>• Issue: Downloading pip/npm packages and Docker images without internet.</a:t>
            </a:r>
          </a:p>
          <a:p>
            <a:pPr>
              <a:defRPr sz="1800">
                <a:solidFill>
                  <a:srgbClr val="5D8AA8"/>
                </a:solidFill>
              </a:defRPr>
            </a:pPr>
            <a:r>
              <a:t>• Solution: Created offline mirrors and utilized local network transfers.</a:t>
            </a:r>
          </a:p>
          <a:p>
            <a:pPr>
              <a:spcBef>
                <a:spcPts val="1500"/>
              </a:spcBef>
              <a:defRPr b="1" sz="2000">
                <a:solidFill>
                  <a:srgbClr val="0A1931"/>
                </a:solidFill>
              </a:defRPr>
            </a:pPr>
            <a:r>
              <a:t>Challenge: Multilingual Embeddings</a:t>
            </a:r>
          </a:p>
          <a:p>
            <a:pPr>
              <a:defRPr sz="1800"/>
            </a:pPr>
            <a:r>
              <a:t>• Issue: Standard models failed at code-mixed Hinglish queries.</a:t>
            </a:r>
          </a:p>
          <a:p>
            <a:pPr>
              <a:defRPr sz="1800">
                <a:solidFill>
                  <a:srgbClr val="5D8AA8"/>
                </a:solidFill>
              </a:defRPr>
            </a:pPr>
            <a:r>
              <a:t>• Solution: Evaluated and deployed specific multilingual embedding models (e.g. BGE/Paraphrase).</a:t>
            </a:r>
          </a:p>
          <a:p>
            <a:pPr>
              <a:spcBef>
                <a:spcPts val="1500"/>
              </a:spcBef>
              <a:defRPr b="1" sz="2000">
                <a:solidFill>
                  <a:srgbClr val="0A1931"/>
                </a:solidFill>
              </a:defRPr>
            </a:pPr>
            <a:r>
              <a:t>Challenge: Voice Latency</a:t>
            </a:r>
          </a:p>
          <a:p>
            <a:pPr>
              <a:defRPr sz="1800"/>
            </a:pPr>
            <a:r>
              <a:t>• Issue: End-to-end processing of STT, LLM, and TTS took too long.</a:t>
            </a:r>
          </a:p>
          <a:p>
            <a:pPr>
              <a:defRPr sz="1800">
                <a:solidFill>
                  <a:srgbClr val="5D8AA8"/>
                </a:solidFill>
              </a:defRPr>
            </a:pPr>
            <a:r>
              <a:t>• Solution: Implemented Silero VAD for chunking and GPU-acceleration where possible.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Key Learning Outcomes</a:t>
            </a:r>
          </a:p>
        </p:txBody>
      </p:sp>
      <p:sp>
        <p:nvSpPr>
          <p:cNvPr id="4" name="TextBox 3"/>
          <p:cNvSpPr txBox="1"/>
          <p:nvPr/>
        </p:nvSpPr>
        <p:spPr>
          <a:xfrm>
            <a:off x="914400" y="1828800"/>
            <a:ext cx="10058400" cy="3657600"/>
          </a:xfrm>
          <a:prstGeom prst="rect">
            <a:avLst/>
          </a:prstGeom>
          <a:noFill/>
        </p:spPr>
        <p:txBody>
          <a:bodyPr wrap="none">
            <a:spAutoFit/>
          </a:bodyPr>
          <a:lstStyle/>
          <a:p/>
          <a:p>
            <a:pPr>
              <a:spcBef>
                <a:spcPts val="1500"/>
              </a:spcBef>
              <a:defRPr sz="2200"/>
            </a:pPr>
            <a:r>
              <a:t>• Architecting production-ready AI systems without cloud dependencies.</a:t>
            </a:r>
          </a:p>
          <a:p>
            <a:pPr>
              <a:spcBef>
                <a:spcPts val="1500"/>
              </a:spcBef>
              <a:defRPr sz="2200"/>
            </a:pPr>
            <a:r>
              <a:t>• Practical implementation of Vector Databases (pgvector) and Semantic Search.</a:t>
            </a:r>
          </a:p>
          <a:p>
            <a:pPr>
              <a:spcBef>
                <a:spcPts val="1500"/>
              </a:spcBef>
              <a:defRPr sz="2200"/>
            </a:pPr>
            <a:r>
              <a:t>• Managing complex real-time asynchronous workflows with FastAPI and WebRTC.</a:t>
            </a:r>
          </a:p>
          <a:p>
            <a:pPr>
              <a:spcBef>
                <a:spcPts val="1500"/>
              </a:spcBef>
              <a:defRPr sz="2200"/>
            </a:pPr>
            <a:r>
              <a:t>• Understanding enterprise IT service management (ITSM) workflows.</a:t>
            </a:r>
          </a:p>
          <a:p>
            <a:pPr>
              <a:spcBef>
                <a:spcPts val="1500"/>
              </a:spcBef>
              <a:defRPr sz="2200"/>
            </a:pPr>
            <a:r>
              <a:t>• Bridging the gap between academic AI concepts and scalable software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A1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1277295" cy="731520"/>
          </a:xfrm>
          <a:prstGeom prst="rect">
            <a:avLst/>
          </a:prstGeom>
          <a:noFill/>
        </p:spPr>
        <p:txBody>
          <a:bodyPr wrap="square">
            <a:spAutoFit/>
          </a:bodyPr>
          <a:lstStyle/>
          <a:p>
            <a:pPr algn="l">
              <a:defRPr b="1" sz="2800">
                <a:solidFill>
                  <a:srgbClr val="FFFFFF"/>
                </a:solidFill>
              </a:defRPr>
            </a:pPr>
            <a:r>
              <a:t>Future Scope</a:t>
            </a:r>
          </a:p>
        </p:txBody>
      </p:sp>
      <p:sp>
        <p:nvSpPr>
          <p:cNvPr id="4" name="TextBox 3"/>
          <p:cNvSpPr txBox="1"/>
          <p:nvPr/>
        </p:nvSpPr>
        <p:spPr>
          <a:xfrm>
            <a:off x="914400" y="1828800"/>
            <a:ext cx="10058400" cy="3657600"/>
          </a:xfrm>
          <a:prstGeom prst="rect">
            <a:avLst/>
          </a:prstGeom>
          <a:noFill/>
        </p:spPr>
        <p:txBody>
          <a:bodyPr wrap="none">
            <a:spAutoFit/>
          </a:bodyPr>
          <a:lstStyle/>
          <a:p/>
          <a:p>
            <a:pPr>
              <a:spcBef>
                <a:spcPts val="1500"/>
              </a:spcBef>
              <a:defRPr sz="2200"/>
            </a:pPr>
            <a:r>
              <a:t>• Automated Telephony Integration (3.5mm jack / PBX analog capture).</a:t>
            </a:r>
          </a:p>
          <a:p>
            <a:pPr>
              <a:spcBef>
                <a:spcPts val="1500"/>
              </a:spcBef>
              <a:defRPr sz="2200"/>
            </a:pPr>
            <a:r>
              <a:t>• Personnel Directory Auto-population via secure LDAP integration.</a:t>
            </a:r>
          </a:p>
          <a:p>
            <a:pPr>
              <a:spcBef>
                <a:spcPts val="1500"/>
              </a:spcBef>
              <a:defRPr sz="2200"/>
            </a:pPr>
            <a:r>
              <a:t>• Periodic Model Fine-Tuning using the accumulated, operator-confirmed datasets.</a:t>
            </a:r>
          </a:p>
          <a:p>
            <a:pPr>
              <a:spcBef>
                <a:spcPts val="1500"/>
              </a:spcBef>
              <a:defRPr sz="2200"/>
            </a:pPr>
            <a:r>
              <a:t>• Caller-Direct Self-Service without requiring operator confirmation in the loop.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3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60152" cy="1828800"/>
          </a:xfrm>
          <a:prstGeom prst="rect">
            <a:avLst/>
          </a:prstGeom>
          <a:noFill/>
        </p:spPr>
        <p:txBody>
          <a:bodyPr wrap="none">
            <a:spAutoFit/>
          </a:bodyPr>
          <a:lstStyle/>
          <a:p>
            <a:pPr algn="ctr">
              <a:defRPr b="1" sz="6000">
                <a:solidFill>
                  <a:srgbClr val="FFFFFF"/>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